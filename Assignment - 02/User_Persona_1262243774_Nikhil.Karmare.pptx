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9144000" cy="5143500" type="screen16x9"/>
  <p:notesSz cx="6858000" cy="9144000"/>
  <p:embeddedFontLst>
    <p:embeddedFont>
      <p:font typeface="Google Sans" panose="020B0604020202020204"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102" y="7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ableStyles" Target="tableStyles.xml"/><Relationship Id="rId5" Type="http://schemas.openxmlformats.org/officeDocument/2006/relationships/font" Target="fonts/font2.fntdata"/><Relationship Id="rId10"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7607457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12660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451450"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lvl="0" algn="ctr">
              <a:buClr>
                <a:schemeClr val="dk1"/>
              </a:buClr>
              <a:buSzPts val="1100"/>
            </a:pPr>
            <a:r>
              <a:rPr lang="en-IN" sz="1900" b="1" dirty="0" err="1">
                <a:solidFill>
                  <a:srgbClr val="1967D2"/>
                </a:solidFill>
                <a:latin typeface="Google Sans"/>
                <a:ea typeface="Google Sans"/>
                <a:cs typeface="Google Sans"/>
                <a:sym typeface="Google Sans"/>
              </a:rPr>
              <a:t>Ananya</a:t>
            </a:r>
            <a:r>
              <a:rPr lang="en-IN" sz="1900" b="1" dirty="0">
                <a:solidFill>
                  <a:srgbClr val="1967D2"/>
                </a:solidFill>
                <a:latin typeface="Google Sans"/>
                <a:ea typeface="Google Sans"/>
                <a:cs typeface="Google Sans"/>
                <a:sym typeface="Google Sans"/>
              </a:rPr>
              <a:t> Sharma</a:t>
            </a:r>
          </a:p>
          <a:p>
            <a:pPr marL="0" marR="0" lvl="0" indent="0" algn="ctr" rtl="0">
              <a:lnSpc>
                <a:spcPct val="100000"/>
              </a:lnSpc>
              <a:spcBef>
                <a:spcPts val="0"/>
              </a:spcBef>
              <a:spcAft>
                <a:spcPts val="0"/>
              </a:spcAft>
              <a:buClr>
                <a:schemeClr val="dk1"/>
              </a:buClr>
              <a:buSzPts val="1100"/>
              <a:buFont typeface="Arial"/>
              <a:buNone/>
            </a:pPr>
            <a:endParaRPr sz="1800" b="1" i="0" u="none" strike="noStrike" cap="none" dirty="0">
              <a:solidFill>
                <a:srgbClr val="1967D2"/>
              </a:solidFill>
              <a:latin typeface="Google Sans"/>
              <a:ea typeface="Google Sans"/>
              <a:cs typeface="Google Sans"/>
              <a:sym typeface="Google Sans"/>
            </a:endParaRPr>
          </a:p>
        </p:txBody>
      </p:sp>
      <p:sp>
        <p:nvSpPr>
          <p:cNvPr id="56" name="Google Shape;56;p13"/>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Age: </a:t>
            </a:r>
            <a:endParaRPr sz="1400" b="1" i="0" u="none" strike="noStrike" cap="none" dirty="0">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Education: </a:t>
            </a:r>
            <a:endParaRPr sz="1400" b="1" i="0" u="none" strike="noStrike" cap="none" dirty="0">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Hometown: </a:t>
            </a:r>
            <a:endParaRPr sz="1400" b="1" i="0" u="none" strike="noStrike" cap="none" dirty="0">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Family: </a:t>
            </a:r>
            <a:endParaRPr sz="1400" b="1" i="0" u="none" strike="noStrike" cap="none" dirty="0">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Occupation:</a:t>
            </a:r>
            <a:endParaRPr sz="1400" b="1" i="0" u="none" strike="noStrike" cap="none" dirty="0">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dirty="0">
              <a:solidFill>
                <a:srgbClr val="000000"/>
              </a:solidFill>
              <a:latin typeface="Google Sans"/>
              <a:ea typeface="Google Sans"/>
              <a:cs typeface="Google Sans"/>
              <a:sym typeface="Google Sans"/>
            </a:endParaRPr>
          </a:p>
        </p:txBody>
      </p:sp>
      <p:sp>
        <p:nvSpPr>
          <p:cNvPr id="57" name="Google Shape;57;p13"/>
          <p:cNvSpPr txBox="1"/>
          <p:nvPr/>
        </p:nvSpPr>
        <p:spPr>
          <a:xfrm>
            <a:off x="1742725" y="3614500"/>
            <a:ext cx="1817400" cy="1217100"/>
          </a:xfrm>
          <a:prstGeom prst="rect">
            <a:avLst/>
          </a:prstGeom>
          <a:noFill/>
          <a:ln>
            <a:noFill/>
          </a:ln>
        </p:spPr>
        <p:txBody>
          <a:bodyPr spcFirstLastPara="1" wrap="square" lIns="91425" tIns="91425" rIns="91425" bIns="91425" anchor="t" anchorCtr="0">
            <a:noAutofit/>
          </a:bodyPr>
          <a:lstStyle/>
          <a:p>
            <a:pPr lvl="0">
              <a:buSzPts val="1400"/>
            </a:pPr>
            <a:r>
              <a:rPr lang="en-IN" sz="1400" i="0" u="none" strike="noStrike" cap="none" dirty="0" smtClean="0">
                <a:solidFill>
                  <a:srgbClr val="000000"/>
                </a:solidFill>
                <a:latin typeface="Google Sans"/>
                <a:ea typeface="Google Sans"/>
                <a:cs typeface="Google Sans"/>
                <a:sym typeface="Google Sans"/>
              </a:rPr>
              <a:t>27</a:t>
            </a:r>
          </a:p>
          <a:p>
            <a:pPr lvl="0">
              <a:buSzPts val="1400"/>
            </a:pPr>
            <a:r>
              <a:rPr lang="en-IN" sz="1400" i="0" u="none" strike="noStrike" cap="none" dirty="0" smtClean="0">
                <a:solidFill>
                  <a:srgbClr val="000000"/>
                </a:solidFill>
                <a:latin typeface="Google Sans"/>
                <a:ea typeface="Google Sans"/>
                <a:cs typeface="Google Sans"/>
                <a:sym typeface="Google Sans"/>
              </a:rPr>
              <a:t>MBA</a:t>
            </a:r>
          </a:p>
          <a:p>
            <a:pPr lvl="0">
              <a:buSzPts val="1400"/>
            </a:pPr>
            <a:r>
              <a:rPr lang="en-IN" dirty="0" smtClean="0">
                <a:latin typeface="Google Sans"/>
                <a:ea typeface="Google Sans"/>
                <a:cs typeface="Google Sans"/>
                <a:sym typeface="Google Sans"/>
              </a:rPr>
              <a:t>Pune, Maharashtra</a:t>
            </a:r>
            <a:endParaRPr lang="en-IN" sz="1400" i="0" u="none" strike="noStrike" cap="none" dirty="0" smtClean="0">
              <a:solidFill>
                <a:srgbClr val="000000"/>
              </a:solidFill>
              <a:latin typeface="Google Sans"/>
              <a:ea typeface="Google Sans"/>
              <a:cs typeface="Google Sans"/>
              <a:sym typeface="Google Sans"/>
            </a:endParaRPr>
          </a:p>
          <a:p>
            <a:pPr lvl="0">
              <a:buSzPts val="1400"/>
            </a:pPr>
            <a:r>
              <a:rPr lang="en-IN" sz="1400" i="0" u="none" strike="noStrike" cap="none" dirty="0" smtClean="0">
                <a:solidFill>
                  <a:srgbClr val="000000"/>
                </a:solidFill>
                <a:latin typeface="Google Sans"/>
                <a:ea typeface="Google Sans"/>
                <a:cs typeface="Google Sans"/>
                <a:sym typeface="Google Sans"/>
              </a:rPr>
              <a:t>Lives with Parents</a:t>
            </a:r>
          </a:p>
          <a:p>
            <a:pPr lvl="0">
              <a:buSzPts val="1400"/>
            </a:pPr>
            <a:r>
              <a:rPr lang="en-IN" dirty="0" smtClean="0">
                <a:latin typeface="Google Sans"/>
                <a:ea typeface="Google Sans"/>
                <a:cs typeface="Google Sans"/>
                <a:sym typeface="Google Sans"/>
              </a:rPr>
              <a:t>IT Professional</a:t>
            </a:r>
            <a:endParaRPr sz="1400" i="0" u="none" strike="noStrike" cap="none" dirty="0">
              <a:solidFill>
                <a:srgbClr val="000000"/>
              </a:solidFill>
              <a:latin typeface="Google Sans"/>
              <a:ea typeface="Google Sans"/>
              <a:cs typeface="Google Sans"/>
              <a:sym typeface="Google Sans"/>
            </a:endParaRPr>
          </a:p>
        </p:txBody>
      </p:sp>
      <p:sp>
        <p:nvSpPr>
          <p:cNvPr id="58" name="Google Shape;58;p13"/>
          <p:cNvSpPr txBox="1"/>
          <p:nvPr/>
        </p:nvSpPr>
        <p:spPr>
          <a:xfrm>
            <a:off x="3651375" y="461325"/>
            <a:ext cx="5035800" cy="908700"/>
          </a:xfrm>
          <a:prstGeom prst="rect">
            <a:avLst/>
          </a:prstGeom>
          <a:noFill/>
          <a:ln>
            <a:noFill/>
          </a:ln>
        </p:spPr>
        <p:txBody>
          <a:bodyPr spcFirstLastPara="1" wrap="square" lIns="91425" tIns="91425" rIns="91425" bIns="91425" anchor="ctr" anchorCtr="0">
            <a:noAutofit/>
          </a:bodyPr>
          <a:lstStyle/>
          <a:p>
            <a:pPr lvl="0" algn="ctr">
              <a:buSzPts val="1800"/>
            </a:pPr>
            <a:r>
              <a:rPr lang="en-US" sz="1800" i="1" dirty="0" smtClean="0">
                <a:latin typeface="Google Sans"/>
                <a:ea typeface="Google Sans"/>
                <a:cs typeface="Google Sans"/>
                <a:sym typeface="Google Sans"/>
              </a:rPr>
              <a:t>“I </a:t>
            </a:r>
            <a:r>
              <a:rPr lang="en-US" sz="1800" i="1" dirty="0">
                <a:latin typeface="Google Sans"/>
                <a:ea typeface="Google Sans"/>
                <a:cs typeface="Google Sans"/>
                <a:sym typeface="Google Sans"/>
              </a:rPr>
              <a:t>want enough genuine information about a person before I decide whether I should contact them.”</a:t>
            </a:r>
            <a:endParaRPr sz="1800" i="1" u="none" strike="noStrike" cap="none" dirty="0">
              <a:solidFill>
                <a:srgbClr val="000000"/>
              </a:solidFill>
              <a:latin typeface="Google Sans"/>
              <a:ea typeface="Google Sans"/>
              <a:cs typeface="Google Sans"/>
              <a:sym typeface="Google Sans"/>
            </a:endParaRPr>
          </a:p>
        </p:txBody>
      </p:sp>
      <p:sp>
        <p:nvSpPr>
          <p:cNvPr id="59" name="Google Shape;59;p13"/>
          <p:cNvSpPr txBox="1"/>
          <p:nvPr/>
        </p:nvSpPr>
        <p:spPr>
          <a:xfrm>
            <a:off x="3651300" y="1370025"/>
            <a:ext cx="2675025" cy="19338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sz="1800" i="0" u="none" strike="noStrike" cap="none" dirty="0">
              <a:solidFill>
                <a:srgbClr val="000000"/>
              </a:solidFill>
              <a:latin typeface="Google Sans"/>
              <a:ea typeface="Google Sans"/>
              <a:cs typeface="Google Sans"/>
              <a:sym typeface="Google Sans"/>
            </a:endParaRPr>
          </a:p>
          <a:p>
            <a:pPr marL="457200" lvl="0" indent="-317500" algn="just">
              <a:buSzPts val="1400"/>
              <a:buFont typeface="Google Sans"/>
              <a:buChar char="●"/>
            </a:pPr>
            <a:r>
              <a:rPr lang="en-US" dirty="0">
                <a:latin typeface="Google Sans"/>
                <a:ea typeface="Google Sans"/>
                <a:cs typeface="Google Sans"/>
                <a:sym typeface="Google Sans"/>
              </a:rPr>
              <a:t>Find a suitable and trustworthy life partner </a:t>
            </a:r>
            <a:r>
              <a:rPr lang="en-US" dirty="0" smtClean="0">
                <a:latin typeface="Google Sans"/>
                <a:ea typeface="Google Sans"/>
                <a:cs typeface="Google Sans"/>
                <a:sym typeface="Google Sans"/>
              </a:rPr>
              <a:t>on Bharat Matrimony. Easily </a:t>
            </a:r>
            <a:r>
              <a:rPr lang="en-US" dirty="0">
                <a:latin typeface="Google Sans"/>
                <a:ea typeface="Google Sans"/>
                <a:cs typeface="Google Sans"/>
                <a:sym typeface="Google Sans"/>
              </a:rPr>
              <a:t>understand profile details and verification information to make a confident decision</a:t>
            </a:r>
            <a:endParaRPr sz="1400" i="0" u="none" strike="noStrike" cap="none" dirty="0">
              <a:solidFill>
                <a:srgbClr val="000000"/>
              </a:solidFill>
              <a:latin typeface="Google Sans"/>
              <a:ea typeface="Google Sans"/>
              <a:cs typeface="Google Sans"/>
              <a:sym typeface="Google Sans"/>
            </a:endParaRPr>
          </a:p>
        </p:txBody>
      </p:sp>
      <p:sp>
        <p:nvSpPr>
          <p:cNvPr id="60" name="Google Shape;60;p13"/>
          <p:cNvSpPr txBox="1"/>
          <p:nvPr/>
        </p:nvSpPr>
        <p:spPr>
          <a:xfrm>
            <a:off x="6326399" y="1370025"/>
            <a:ext cx="2522776" cy="19338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endParaRPr sz="1800" b="1" i="0" u="none" strike="noStrike" cap="none" dirty="0">
              <a:solidFill>
                <a:schemeClr val="dk1"/>
              </a:solidFill>
              <a:latin typeface="Google Sans"/>
              <a:ea typeface="Google Sans"/>
              <a:cs typeface="Google Sans"/>
              <a:sym typeface="Google Sans"/>
            </a:endParaRPr>
          </a:p>
          <a:p>
            <a:pPr marL="457200" lvl="0" indent="-317500" algn="just">
              <a:buClr>
                <a:schemeClr val="dk1"/>
              </a:buClr>
              <a:buSzPts val="1400"/>
              <a:buFont typeface="Google Sans"/>
              <a:buChar char="●"/>
            </a:pPr>
            <a:r>
              <a:rPr lang="en-US" dirty="0">
                <a:solidFill>
                  <a:schemeClr val="dk1"/>
                </a:solidFill>
                <a:latin typeface="Google Sans"/>
                <a:ea typeface="Google Sans"/>
                <a:cs typeface="Google Sans"/>
                <a:sym typeface="Google Sans"/>
              </a:rPr>
              <a:t>Unclear verification badges and difficulty judging whether profile information is genuine</a:t>
            </a:r>
            <a:r>
              <a:rPr lang="en-US" dirty="0" smtClean="0">
                <a:solidFill>
                  <a:schemeClr val="dk1"/>
                </a:solidFill>
                <a:latin typeface="Google Sans"/>
                <a:ea typeface="Google Sans"/>
                <a:cs typeface="Google Sans"/>
                <a:sym typeface="Google Sans"/>
              </a:rPr>
              <a:t>. Incomplete </a:t>
            </a:r>
            <a:r>
              <a:rPr lang="en-US" dirty="0">
                <a:solidFill>
                  <a:schemeClr val="dk1"/>
                </a:solidFill>
                <a:latin typeface="Google Sans"/>
                <a:ea typeface="Google Sans"/>
                <a:cs typeface="Google Sans"/>
                <a:sym typeface="Google Sans"/>
              </a:rPr>
              <a:t>or poorly organized information can make comparing potential matches difficult.</a:t>
            </a:r>
            <a:endParaRPr sz="1400" i="0" u="none" strike="noStrike" cap="none" dirty="0">
              <a:solidFill>
                <a:srgbClr val="000000"/>
              </a:solidFill>
              <a:latin typeface="Google Sans"/>
              <a:ea typeface="Google Sans"/>
              <a:cs typeface="Google Sans"/>
              <a:sym typeface="Google Sans"/>
            </a:endParaRPr>
          </a:p>
        </p:txBody>
      </p:sp>
      <p:sp>
        <p:nvSpPr>
          <p:cNvPr id="61" name="Google Shape;61;p13"/>
          <p:cNvSpPr txBox="1"/>
          <p:nvPr/>
        </p:nvSpPr>
        <p:spPr>
          <a:xfrm>
            <a:off x="3651375" y="3783105"/>
            <a:ext cx="5197800" cy="1290919"/>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lvl="0" algn="just">
              <a:buSzPts val="1400"/>
            </a:pPr>
            <a:r>
              <a:rPr lang="en-US" sz="1100" dirty="0" err="1">
                <a:latin typeface="Google Sans"/>
                <a:ea typeface="Google Sans"/>
                <a:cs typeface="Google Sans"/>
                <a:sym typeface="Google Sans"/>
              </a:rPr>
              <a:t>Ananya</a:t>
            </a:r>
            <a:r>
              <a:rPr lang="en-US" sz="1100" dirty="0">
                <a:latin typeface="Google Sans"/>
                <a:ea typeface="Google Sans"/>
                <a:cs typeface="Google Sans"/>
                <a:sym typeface="Google Sans"/>
              </a:rPr>
              <a:t>, a 27-year-old IT professional, uses </a:t>
            </a:r>
            <a:r>
              <a:rPr lang="en-US" sz="1100" dirty="0" err="1">
                <a:latin typeface="Google Sans"/>
                <a:ea typeface="Google Sans"/>
                <a:cs typeface="Google Sans"/>
                <a:sym typeface="Google Sans"/>
              </a:rPr>
              <a:t>BharatMatrimony</a:t>
            </a:r>
            <a:r>
              <a:rPr lang="en-US" sz="1100" dirty="0">
                <a:latin typeface="Google Sans"/>
                <a:ea typeface="Google Sans"/>
                <a:cs typeface="Google Sans"/>
                <a:sym typeface="Google Sans"/>
              </a:rPr>
              <a:t> to find a suitable life partner. She searches for profiles based on her preferences and reviews their personal, educational, professional, and family details. However, she feels cautious when verification badges or profile information are unclear, making it difficult to judge whether a profile is trustworthy. When the information is clear and verified, she feels more confident about exploring the profile and initiating contact.</a:t>
            </a:r>
            <a:endParaRPr sz="1100" i="0" u="none" strike="noStrike" cap="none" dirty="0">
              <a:solidFill>
                <a:srgbClr val="000000"/>
              </a:solidFill>
              <a:latin typeface="Google Sans"/>
              <a:ea typeface="Google Sans"/>
              <a:cs typeface="Google Sans"/>
              <a:sym typeface="Google Sans"/>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939" y="786900"/>
            <a:ext cx="2675711" cy="2184337"/>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171</Words>
  <Application>Microsoft Office PowerPoint</Application>
  <PresentationFormat>On-screen Show (16:9)</PresentationFormat>
  <Paragraphs>17</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Google Sans</vt:lpstr>
      <vt:lpstr>Simple Light</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account</cp:lastModifiedBy>
  <cp:revision>2</cp:revision>
  <dcterms:modified xsi:type="dcterms:W3CDTF">2026-08-10T18:53:43Z</dcterms:modified>
</cp:coreProperties>
</file>